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essen/versicherungen-dachgeschossausbau-essen/" TargetMode="External"/><Relationship Id="rId3" Type="http://schemas.openxmlformats.org/officeDocument/2006/relationships/hyperlink" Target="https://holzundhaus.github.io/dachgeschossausbauessen/dateien/minimax-72e14d0e8aa935b7a12f276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Versicherungen beim Dachgeschossausbau in Essen: Welche Policen Bauherren wirklich brauchen · Erklärende Präsentation</a:t>
            </a:r>
          </a:p>
        </p:txBody>
      </p:sp>
      <p:sp>
        <p:nvSpPr>
          <p:cNvPr id="3" name="Content Placeholder 2"/>
          <p:cNvSpPr>
            <a:spLocks noGrp="1"/>
          </p:cNvSpPr>
          <p:nvPr>
            <p:ph idx="1"/>
          </p:nvPr>
        </p:nvSpPr>
        <p:spPr/>
        <p:txBody>
          <a:bodyPr/>
          <a:lstStyle/>
          <a:p>
            <a:r>
              <a:t>Überblick: Der Dachgeschossausbau berührt die Risikostruktur eines bestehenden Gebäudes erheblich: Statik, Dachkonstruktion, Leitungen und Nutzung verändern sich. Deshalb gehört die Versicherungsfrage nicht erst kurz vor Baubeginn auf die To-do-Liste. Bereits nach der Vor-Ort-Begutachtung sollte klar sein, welche Risiken in welcher Bauphase abgesichert sind und welche Angaben Versicherer, Bauleitung und Behörden benötigen. Der folgende Leitfaden strukturiert diese Prüfung, ohne einzelne Policen pauschal für jeden Bauherrn als passend zu erklären.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den Versicherungsbedarf ermitteln</a:t>
            </a:r>
          </a:p>
        </p:txBody>
      </p:sp>
      <p:sp>
        <p:nvSpPr>
          <p:cNvPr id="3" name="Content Placeholder 2"/>
          <p:cNvSpPr>
            <a:spLocks noGrp="1"/>
          </p:cNvSpPr>
          <p:nvPr>
            <p:ph idx="1"/>
          </p:nvPr>
        </p:nvSpPr>
        <p:spPr/>
        <p:txBody>
          <a:bodyPr/>
          <a:lstStyle/>
          <a:p>
            <a:pPr>
              <a:defRPr sz="1800"/>
            </a:pPr>
            <a:r>
              <a:t>Die wichtigste Grundlage ist eine Bestandsaufnahme des vorhandenen Schutzes. Bei der Begehung sollten die Beteiligten gemeinsam festhalten, welche Flächen ausgebaut werden, welche Gewerke arbeiten, ob Eigenleistung vorgesehen ist und ob später Photovoltaik, eine neue Heizungsanlage oder andere Sonderkomponenten hinzukommen. Diese Informationen bestimmen den voraussichtlichen Versicherungsbedarf. Auch die Reihenfolge der Arbeiten ist relevant: Ein phasenweiser Versicherungswechsel passt nicht immer nahtlos zum Bauablauf. Sinnvoll ist daher eine schriftliche Übersicht, die die Bauphasen von Planung über Rohbau bis zur Bezugsfertigkeit und dem 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den Versicherungsbedarf ermitteln</a:t>
            </a:r>
          </a:p>
        </p:txBody>
      </p:sp>
      <p:sp>
        <p:nvSpPr>
          <p:cNvPr id="3" name="Content Placeholder 2"/>
          <p:cNvSpPr>
            <a:spLocks noGrp="1"/>
          </p:cNvSpPr>
          <p:nvPr>
            <p:ph idx="1"/>
          </p:nvPr>
        </p:nvSpPr>
        <p:spPr/>
        <p:txBody>
          <a:bodyPr/>
          <a:lstStyle/>
          <a:p>
            <a:pPr>
              <a:defRPr sz="1800"/>
            </a:pPr>
            <a:r>
              <a:t>päteren Wohnbetrieb umfasst. So kann jeder Beteiligte erkennen, welche Absicherung noch geprüft werden muss.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Fünf Schutzfelder getrennt betrachten</a:t>
            </a:r>
          </a:p>
        </p:txBody>
      </p:sp>
      <p:sp>
        <p:nvSpPr>
          <p:cNvPr id="3" name="Content Placeholder 2"/>
          <p:cNvSpPr>
            <a:spLocks noGrp="1"/>
          </p:cNvSpPr>
          <p:nvPr>
            <p:ph idx="1"/>
          </p:nvPr>
        </p:nvSpPr>
        <p:spPr/>
        <p:txBody>
          <a:bodyPr/>
          <a:lstStyle/>
          <a:p>
            <a:pPr>
              <a:defRPr sz="1800"/>
            </a:pPr>
            <a:r>
              <a:t>Für einen typischen Dachgeschossausbau lassen sich fünf Schutzfelder unterscheiden. Die Bauherrenhaftpflicht adressiert Schäden Dritter während der Baustelle, etwa durch herabfallendes Material oder beschädigte Nachbarfahrzeuge. Die Bauleistungsversicherung kann unvorhergesehene Schäden an bereits erstellten Bauleistungen durch äußere Ereignisse absichern; normale Verschleißerscheinungen und fehlerhafte Arbeit gehören nicht automatisch dazu. Eine Feuer-Rohbau-Versicherung schützt die Bauzeit gegen Feuerschäden, sofern entsprechende Voraussetzungen erfüllt sind. Nach der Bezugsfertigkeit ist die Wohngebäudeversicherung anzupassen, weil neue Fl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Fünf Schutzfelder getrennt betrachten</a:t>
            </a:r>
          </a:p>
        </p:txBody>
      </p:sp>
      <p:sp>
        <p:nvSpPr>
          <p:cNvPr id="3" name="Content Placeholder 2"/>
          <p:cNvSpPr>
            <a:spLocks noGrp="1"/>
          </p:cNvSpPr>
          <p:nvPr>
            <p:ph idx="1"/>
          </p:nvPr>
        </p:nvSpPr>
        <p:spPr/>
        <p:txBody>
          <a:bodyPr/>
          <a:lstStyle/>
          <a:p>
            <a:pPr>
              <a:defRPr sz="1800"/>
            </a:pPr>
            <a:r>
              <a:t>ächen, eine veränderte Dachkonstruktion oder zusätzliche technische Anlagen die bisherige Deckung beeinflussen können. Bei Eigenleistung kommt die Unfallversicherung für Bauhelfer hinzu. Welche Police konkret geeignet ist, hängt von Vertrag, Objekt und Bauweise ab und sollte vor Abschluss geprüft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Lücken frühzeitig erkennen</a:t>
            </a:r>
          </a:p>
        </p:txBody>
      </p:sp>
      <p:sp>
        <p:nvSpPr>
          <p:cNvPr id="3" name="Content Placeholder 2"/>
          <p:cNvSpPr>
            <a:spLocks noGrp="1"/>
          </p:cNvSpPr>
          <p:nvPr>
            <p:ph idx="1"/>
          </p:nvPr>
        </p:nvSpPr>
        <p:spPr/>
        <p:txBody>
          <a:bodyPr/>
          <a:lstStyle/>
          <a:p>
            <a:pPr>
              <a:defRPr sz="1800"/>
            </a:pPr>
            <a:r>
              <a:t>Besonders aufmerksam geprüft werden sollte, ob der bestehende Gebäudeschutz auch für den geplanten Ausbau gilt. Fehlende oder unvollständige Genehmigungsunterlagen können Versicherer dazu veranlassen, den Schutz für neue Wohnbereiche infrage zu stellen. Wer regelmäßig selbst oder mit Familie arbeitet, sollte die Anmeldung der Helfer nicht vergessen. Außerdem ist der Übergang zwischen Bauleistungs- und Wohngebäudeversicherung zu dokumentieren, damit keine Zeiträume ungeklärt bleiben. Auch neue PV-Anlagen oder Wärmepumpen benötigen eine ausdrückliche Prüfung der Mitversicherung. Die zentrale Checkliste lautet daher: Genehmigungsstand, Beteiligt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Lücken frühzeitig erkennen</a:t>
            </a:r>
          </a:p>
        </p:txBody>
      </p:sp>
      <p:sp>
        <p:nvSpPr>
          <p:cNvPr id="3" name="Content Placeholder 2"/>
          <p:cNvSpPr>
            <a:spLocks noGrp="1"/>
          </p:cNvSpPr>
          <p:nvPr>
            <p:ph idx="1"/>
          </p:nvPr>
        </p:nvSpPr>
        <p:spPr/>
        <p:txBody>
          <a:bodyPr/>
          <a:lstStyle/>
          <a:p>
            <a:pPr>
              <a:defRPr sz="1800"/>
            </a:pPr>
            <a:r>
              <a:t>e Gewerke, Eigenleistung, Bauzeitraum, Wohnnutzung und Sonderkomponenten – jeweils mit einer eindeutig zugeordneten Versicherungszuständigkeit.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 und Förderung nicht verwechseln</a:t>
            </a:r>
          </a:p>
        </p:txBody>
      </p:sp>
      <p:sp>
        <p:nvSpPr>
          <p:cNvPr id="3" name="Content Placeholder 2"/>
          <p:cNvSpPr>
            <a:spLocks noGrp="1"/>
          </p:cNvSpPr>
          <p:nvPr>
            <p:ph idx="1"/>
          </p:nvPr>
        </p:nvSpPr>
        <p:spPr/>
        <p:txBody>
          <a:bodyPr/>
          <a:lstStyle/>
          <a:p>
            <a:pPr>
              <a:defRPr sz="1800"/>
            </a:pPr>
            <a:r>
              <a:t>Förderprogramme ersetzen keinen Versicherungsschutz. Auch wenn öffentliche Zuschüsse beantragt werden, muss die bauliche Umsetzung während der Bauzeit ordnungsgemäß abgesichert sein. Bei steuerlichen Regelungen können zudem Angaben zur Versicherungssituation im Rahmen der Steuererklärung relevant werden. Praktisch empfiehlt sich, Fördermittel, Bauantrag und Versicherungsunterlagen parallel zu organisieren: So bleiben Zuständigkeiten und Nachweise vollständig. Förderanträge sollten zudem nicht vor geklärten Fragen zu Gebäudeleistungen, Handwerkerbeauftragung und Eigenleistung weiterlaufen. Ein Versicherungs-Check ersetzt keine Fachberatung zur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Versicherung und Förderung nicht verwechseln</a:t>
            </a:r>
          </a:p>
        </p:txBody>
      </p:sp>
      <p:sp>
        <p:nvSpPr>
          <p:cNvPr id="3" name="Content Placeholder 2"/>
          <p:cNvSpPr>
            <a:spLocks noGrp="1"/>
          </p:cNvSpPr>
          <p:nvPr>
            <p:ph idx="1"/>
          </p:nvPr>
        </p:nvSpPr>
        <p:spPr/>
        <p:txBody>
          <a:bodyPr/>
          <a:lstStyle/>
          <a:p>
            <a:pPr>
              <a:defRPr sz="1800"/>
            </a:pPr>
            <a:r>
              <a:t> steuerlichen Anerkennung, kann aber verhindern, dass wichtige Nachweise erst nach einem Schadensfall fehlen.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Auftragsvergabe schriftlich bestätigen lassen</a:t>
            </a:r>
          </a:p>
        </p:txBody>
      </p:sp>
      <p:sp>
        <p:nvSpPr>
          <p:cNvPr id="3" name="Content Placeholder 2"/>
          <p:cNvSpPr>
            <a:spLocks noGrp="1"/>
          </p:cNvSpPr>
          <p:nvPr>
            <p:ph idx="1"/>
          </p:nvPr>
        </p:nvSpPr>
        <p:spPr/>
        <p:txBody>
          <a:bodyPr/>
          <a:lstStyle/>
          <a:p>
            <a:pPr>
              <a:defRPr sz="1800"/>
            </a:pPr>
            <a:r>
              <a:t>Noch vor Auftragsvergabe sollte ein schriftlicher Versicherungs-Check für den Dachgeschossausbau vorliegen. Dabei sind besonders die zeitliche Abdeckung, beteiligte Gewerke, Eigenleistung, dokumentierte Genehmigungen, neu eingebaute Komponenten und der Übergang zur Wohngebäudeversicherung zu klären. Eine schriftliche Bestätigung des Versicherungsanbieters schafft einen nachvollziehbaren Stand, ersetzt jedoch nicht das Studium der Allgemeinen Versicherungsbedingungen. Erkennbare Lücken sollten anschließend mit der Bauleitung, den beteiligten Handwerkern und dem Versicherer bearbeitet werden. So entsteht kein pauschales Versicherungsversprechen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Auftragsvergabe schriftlich bestätigen lassen</a:t>
            </a:r>
          </a:p>
        </p:txBody>
      </p:sp>
      <p:sp>
        <p:nvSpPr>
          <p:cNvPr id="3" name="Content Placeholder 2"/>
          <p:cNvSpPr>
            <a:spLocks noGrp="1"/>
          </p:cNvSpPr>
          <p:nvPr>
            <p:ph idx="1"/>
          </p:nvPr>
        </p:nvSpPr>
        <p:spPr/>
        <p:txBody>
          <a:bodyPr/>
          <a:lstStyle/>
          <a:p>
            <a:pPr>
              <a:defRPr sz="1800"/>
            </a:pPr>
            <a:r>
              <a:t>, sondern ein belastbarer Ablauf, der Schutzlücken bereits vor Beginn der Arbeiten sichtbar macht.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Versicherungen beim Dachgeschossausbau in Essen: Welche Policen Bauherren wirklich brauchen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