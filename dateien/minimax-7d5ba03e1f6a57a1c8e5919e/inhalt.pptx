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essen/-/blob/1b87dfa9200cd60ca34a62b57be66fc5ee289a45/_posts/2026-10-15-dachflaechenfenster-essen-groesse-position-steuerung.md" TargetMode="External"/><Relationship Id="rId3" Type="http://schemas.openxmlformats.org/officeDocument/2006/relationships/hyperlink" Target="https://holzundhaus.github.io/dachgeschossausbauessen/dateien/minimax-7d5ba03e1f6a57a1c8e5919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Dachflächenfenster im Essener Dachgeschoss: Größe, Position und Steuerung richtig planen · Erklärende Präsentation</a:t>
            </a:r>
          </a:p>
        </p:txBody>
      </p:sp>
      <p:sp>
        <p:nvSpPr>
          <p:cNvPr id="3" name="Content Placeholder 2"/>
          <p:cNvSpPr>
            <a:spLocks noGrp="1"/>
          </p:cNvSpPr>
          <p:nvPr>
            <p:ph idx="1"/>
          </p:nvPr>
        </p:nvSpPr>
        <p:spPr/>
        <p:txBody>
          <a:bodyPr/>
          <a:lstStyle/>
          <a:p>
            <a:r>
              <a:t>Überblick: Dachflächenfenster sind das zentrale Element jeder Dachgeschossplanung. Ihre richtige Dimensionierung entscheidet über Lichtausbeute, Raumklima und die Nutzbarkeit der Flächen unter den Schrägen. Wer frühzeitig plant und die wesentlichen Zusammenhänge kennt, spart sich spätere Kompromisse bei Möblierung und Wohnkomfort.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Größe mehr ist als eine Rechenaufgabe</a:t>
            </a:r>
          </a:p>
        </p:txBody>
      </p:sp>
      <p:sp>
        <p:nvSpPr>
          <p:cNvPr id="3" name="Content Placeholder 2"/>
          <p:cNvSpPr>
            <a:spLocks noGrp="1"/>
          </p:cNvSpPr>
          <p:nvPr>
            <p:ph idx="1"/>
          </p:nvPr>
        </p:nvSpPr>
        <p:spPr/>
        <p:txBody>
          <a:bodyPr/>
          <a:lstStyle/>
          <a:p>
            <a:pPr>
              <a:defRPr sz="1800"/>
            </a:pPr>
            <a:r>
              <a:t>Die gängige Faustformel von rund einem Quadratmeter Fensterfläche je zehn Quadratmeter Wohnfläche liefert einen guten Ausgangspunkt. Entscheidend ist jedoch, wie diese Fläche auf Raumtiefe, Kniestockshöhe und die Statik des Dachstuhls verteilt wird. Sparren- und Wechselpositionen begrenzen, wo sich Öffnungen realisieren lassen. In der Praxis funktioniert ein großformatiges Fenster häufig besser als mehrere kleine, weil es weniger Rahmenfläche und damit mehr Licht pro Öffnung bietet. Bei der Planung sollten auch die Proportionen des fertigen Raums bedacht werden: Ein zu kleines Fenster lässt selbst große Räume dunkel und beengt wirken, ein übe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Größe mehr ist als eine Rechenaufgabe</a:t>
            </a:r>
          </a:p>
        </p:txBody>
      </p:sp>
      <p:sp>
        <p:nvSpPr>
          <p:cNvPr id="3" name="Content Placeholder 2"/>
          <p:cNvSpPr>
            <a:spLocks noGrp="1"/>
          </p:cNvSpPr>
          <p:nvPr>
            <p:ph idx="1"/>
          </p:nvPr>
        </p:nvSpPr>
        <p:spPr/>
        <p:txBody>
          <a:bodyPr/>
          <a:lstStyle/>
          <a:p>
            <a:pPr>
              <a:defRPr sz="1800"/>
            </a:pPr>
            <a:r>
              <a:t>rdimensioniertes hingegen treibt die Aufheizung im Sommer unnötig in die Höhe.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Positionierung je nach Raumnutzung</a:t>
            </a:r>
          </a:p>
        </p:txBody>
      </p:sp>
      <p:sp>
        <p:nvSpPr>
          <p:cNvPr id="3" name="Content Placeholder 2"/>
          <p:cNvSpPr>
            <a:spLocks noGrp="1"/>
          </p:cNvSpPr>
          <p:nvPr>
            <p:ph idx="1"/>
          </p:nvPr>
        </p:nvSpPr>
        <p:spPr/>
        <p:txBody>
          <a:bodyPr/>
          <a:lstStyle/>
          <a:p>
            <a:pPr>
              <a:defRPr sz="1800"/>
            </a:pPr>
            <a:r>
              <a:t>Die Frage, auf welcher Höhe und Achse ein Dachflächenfenster sitzt, richtet sich nach dem, was darunter passiert. Im Bad stehen Sichtschutz und Tageslicht gleichermaßen im Fokus, weshalb mittelhohe Einbauten mit kombinierten Plissee-Lösungen sinnvoll sind. Im Schlafzimmer lohnt sich ein Blick auf die gewünschte Morgen- oder Abendsonne: Ostfenster bringen frühe Helligkeit, Westfenster eher Wärme am Abend. Beide Positionen erfordern eine serienmäßige Verdunkelungslösung. Für Galerien und offene Wohnbereiche empfiehlt sich die Anordnung mehrerer Fenster in Reihe, um die Lichtwirkung über die Raumtiefe voll auszuschöpfen. Die Unterkante des unter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Positionierung je nach Raumnutzung</a:t>
            </a:r>
          </a:p>
        </p:txBody>
      </p:sp>
      <p:sp>
        <p:nvSpPr>
          <p:cNvPr id="3" name="Content Placeholder 2"/>
          <p:cNvSpPr>
            <a:spLocks noGrp="1"/>
          </p:cNvSpPr>
          <p:nvPr>
            <p:ph idx="1"/>
          </p:nvPr>
        </p:nvSpPr>
        <p:spPr/>
        <p:txBody>
          <a:bodyPr/>
          <a:lstStyle/>
          <a:p>
            <a:pPr>
              <a:defRPr sz="1800"/>
            </a:pPr>
            <a:r>
              <a:t>sten Fensters sollte dabei mindestens 1,90 Meter über dem Fertigfußboden liegen, um eine nutzbare Stehfläche zu gewährleisten.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Steuerung und Bedienung planen</a:t>
            </a:r>
          </a:p>
        </p:txBody>
      </p:sp>
      <p:sp>
        <p:nvSpPr>
          <p:cNvPr id="3" name="Content Placeholder 2"/>
          <p:cNvSpPr>
            <a:spLocks noGrp="1"/>
          </p:cNvSpPr>
          <p:nvPr>
            <p:ph idx="1"/>
          </p:nvPr>
        </p:nvSpPr>
        <p:spPr/>
        <p:txBody>
          <a:bodyPr/>
          <a:lstStyle/>
          <a:p>
            <a:pPr>
              <a:defRPr sz="1800"/>
            </a:pPr>
            <a:r>
              <a:t>Manuelle Bedienung bleibt die kostengünstigste Variante und eignet sich für gut erreichbare, selten genutzte Fenster. Elektrische und solarbetriebene Systeme erhöhen den Komfort deutlich, insbesondere bei hohen Einbauten oder kombinierten Anlagen mit Rollläden. Solarbetriebene Lösungen bieten den Vorteil, dass kein separater Stromanschluss am Einbauort erforderlich ist, was sie besonders für die Nachrüstung im Bestandsdach interessant macht. Wer langfristig ein smartes System anstrebt, sollte bei der Produktauswahl auf die Kompatibilität innerhalb einer Herstellerfamilie achten – Velux, Roto und Fakro bieten jeweils eigene Funk- und App-Lösun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Steuerung und Bedienung planen</a:t>
            </a:r>
          </a:p>
        </p:txBody>
      </p:sp>
      <p:sp>
        <p:nvSpPr>
          <p:cNvPr id="3" name="Content Placeholder 2"/>
          <p:cNvSpPr>
            <a:spLocks noGrp="1"/>
          </p:cNvSpPr>
          <p:nvPr>
            <p:ph idx="1"/>
          </p:nvPr>
        </p:nvSpPr>
        <p:spPr/>
        <p:txBody>
          <a:bodyPr/>
          <a:lstStyle/>
          <a:p>
            <a:pPr>
              <a:defRPr sz="1800"/>
            </a:pPr>
            <a:r>
              <a:t>gen an, die sich innerhalb des eigenen Sortiments am einfachsten kombinieren lassen.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Hitzeschutz von Anfang an mitdenken</a:t>
            </a:r>
          </a:p>
        </p:txBody>
      </p:sp>
      <p:sp>
        <p:nvSpPr>
          <p:cNvPr id="3" name="Content Placeholder 2"/>
          <p:cNvSpPr>
            <a:spLocks noGrp="1"/>
          </p:cNvSpPr>
          <p:nvPr>
            <p:ph idx="1"/>
          </p:nvPr>
        </p:nvSpPr>
        <p:spPr/>
        <p:txBody>
          <a:bodyPr/>
          <a:lstStyle/>
          <a:p>
            <a:pPr>
              <a:defRPr sz="1800"/>
            </a:pPr>
            <a:r>
              <a:t>In einem Dachgeschoss mit unzureichender Dämmung kann selbst ein einzelnes ungeschütztes Dachflächenfenster im Sommer zu einem erheblichen Wärmeproblem werden. Der Sonnenschutz sollte deshalb von Beginn an zur Fensterlösung gehören, nicht als nachträgliche Ergänzung betrachtet werden. Außenliegende Rollläden bieten den höchsten Schutz, weil sie die Sonnenstrahlung vor dem Glas abhalten und zusätzlich Schallschutz sowie Einbruchhemmung verbessern. Innenliegende Plissees oder Verdunkelungsrollos sind optisch flexibler und schmaler im Aufbau, reduzieren die Hitzeentwicklung jedoch weniger effektiv als außenliegende Systeme. Die Wahl hängt daher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Hitzeschutz von Anfang an mitdenken</a:t>
            </a:r>
          </a:p>
        </p:txBody>
      </p:sp>
      <p:sp>
        <p:nvSpPr>
          <p:cNvPr id="3" name="Content Placeholder 2"/>
          <p:cNvSpPr>
            <a:spLocks noGrp="1"/>
          </p:cNvSpPr>
          <p:nvPr>
            <p:ph idx="1"/>
          </p:nvPr>
        </p:nvSpPr>
        <p:spPr/>
        <p:txBody>
          <a:bodyPr/>
          <a:lstStyle/>
          <a:p>
            <a:pPr>
              <a:defRPr sz="1800"/>
            </a:pPr>
            <a:r>
              <a:t>von der jeweiligen Raumsituation und dem Dämmstandard 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Baurechtliche Anforderungen in NRW beachten</a:t>
            </a:r>
          </a:p>
        </p:txBody>
      </p:sp>
      <p:sp>
        <p:nvSpPr>
          <p:cNvPr id="3" name="Content Placeholder 2"/>
          <p:cNvSpPr>
            <a:spLocks noGrp="1"/>
          </p:cNvSpPr>
          <p:nvPr>
            <p:ph idx="1"/>
          </p:nvPr>
        </p:nvSpPr>
        <p:spPr/>
        <p:txBody>
          <a:bodyPr/>
          <a:lstStyle/>
          <a:p>
            <a:pPr>
              <a:defRPr sz="1800"/>
            </a:pPr>
            <a:r>
              <a:t>Nach § 63 der Bauordnung NRW wird bei Veränderungen der Dachhaut eine Baugenehmigung erforderlich, sobald die Öffnungsgröße etwa einen Quadratmeter überschreitet. Ein Austausch eines bestehenden Fensters gegen ein baugleiches Modell bleibt in der Regel genehmigungsfrei. Wer jedoch die Öffnung vergrößert oder ein neues Fenster in eine bislang geschlossene Fläche setzt, muss einen Bauantrag mit Lageplan, Grundrissen, Schnittzeichnungen und Angaben zu U-Wert und Material einreichen. Bei denkmalgeschützten Gebäuden kommt eine zusätzliche denkmalrechtliche Erlaubnis hinzu. Ein wichtiger Hinweis: Werden mehrere kleine Fenster unter einem Quadratmet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Baurechtliche Anforderungen in NRW beachten</a:t>
            </a:r>
          </a:p>
        </p:txBody>
      </p:sp>
      <p:sp>
        <p:nvSpPr>
          <p:cNvPr id="3" name="Content Placeholder 2"/>
          <p:cNvSpPr>
            <a:spLocks noGrp="1"/>
          </p:cNvSpPr>
          <p:nvPr>
            <p:ph idx="1"/>
          </p:nvPr>
        </p:nvSpPr>
        <p:spPr/>
        <p:txBody>
          <a:bodyPr/>
          <a:lstStyle/>
          <a:p>
            <a:pPr>
              <a:defRPr sz="1800"/>
            </a:pPr>
            <a:r>
              <a:t>er zusammengerechnet, wenn sie funktional zusammenwirken, kann dies ebenfalls eine Genehmigungspflicht auslösen. Eine frühzeitige Klärung mit dem zuständigen Bauamt in Essen vermeidet kostspielige Rückbauforderungen.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Dachflächenfenster im Essener Dachgeschoss: Größe, Position und Steuerung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